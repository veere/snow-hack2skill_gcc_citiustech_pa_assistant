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1280160"/>
          </a:xfrm>
          <a:prstGeom prst="rect"/>
          <a:solidFill>
            <a:srgbClr val="0F2B46"/>
          </a:solidFill>
          <a:ln>
            <a:noFill/>
          </a:ln>
        </p:spPr>
      </p:sp>
      <p:sp>
        <p:nvSpPr>
          <p:cNvPr id="3" name="stripe"/>
          <p:cNvSpPr/>
          <p:nvPr/>
        </p:nvSpPr>
        <p:spPr>
          <a:xfrm>
            <a:off x="0" y="1280160"/>
            <a:ext cx="12192000" cy="54864"/>
          </a:xfrm>
          <a:prstGeom prst="rect"/>
          <a:solidFill>
            <a:srgbClr val="00A9C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 Semibold"/>
                <a:cs typeface="Segoe UI Semibold"/>
              </a:rPr>
              <a:t>THE PROBLEM</a:t>
            </a:r>
          </a:p>
        </p:txBody>
      </p:sp>
      <p:sp>
        <p:nvSpPr>
          <p:cNvPr id="5" name="sub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000" b="0" dirty="0">
                <a:solidFill>
                  <a:srgbClr val="00A9CE"/>
                </a:solidFill>
                <a:latin typeface="Segoe UI"/>
                <a:cs typeface="Segoe UI"/>
              </a:rPr>
              <a:t>Prior Authorization Review is Broken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Bef>
                <a:spcPts val="600"/>
              </a:spcBef>
            </a:pPr>
            <a:r>
              <a:rPr lang="en-US" sz="1800" b="1" dirty="0">
                <a:solidFill>
                  <a:srgbClr val="0F2B46"/>
                </a:solidFill>
                <a:latin typeface="Segoe UI"/>
                <a:cs typeface="Segoe UI"/>
              </a:rPr>
              <a:t>⚠  Analyst Overload</a:t>
            </a:r>
          </a:p>
          <a:p>
            <a:pPr>
              <a:spcBef>
                <a:spcPts val="200"/>
              </a:spcBef>
            </a:pPr>
            <a:r>
              <a:rPr lang="en-US" sz="1400" b="0" dirty="0">
                <a:solidFill>
                  <a:srgbClr val="6B7280"/>
                </a:solidFill>
                <a:latin typeface="Segoe UI"/>
                <a:cs typeface="Segoe UI"/>
              </a:rPr>
              <a:t>PA analysts juggle 6+ disconnected systems to gather member eligibility, clinical records, regulatory deadlines, benefit rules, and precedent data for every single case.</a:t>
            </a:r>
          </a:p>
          <a:p>
            <a:pPr>
              <a:spcBef>
                <a:spcPts val="800"/>
              </a:spcBef>
            </a:pPr>
            <a:r>
              <a:rPr lang="en-US" sz="1800" b="1" dirty="0">
                <a:solidFill>
                  <a:srgbClr val="0F2B46"/>
                </a:solidFill>
                <a:latin typeface="Segoe UI"/>
                <a:cs typeface="Segoe UI"/>
              </a:rPr>
              <a:t>⏱  SLA Pressure</a:t>
            </a:r>
          </a:p>
          <a:p>
            <a:pPr>
              <a:spcBef>
                <a:spcPts val="200"/>
              </a:spcBef>
            </a:pPr>
            <a:r>
              <a:rPr lang="en-US" sz="1400" b="0" dirty="0">
                <a:solidFill>
                  <a:srgbClr val="6B7280"/>
                </a:solidFill>
                <a:latin typeface="Segoe UI"/>
                <a:cs typeface="Segoe UI"/>
              </a:rPr>
              <a:t>CMS-0057-F mandates 7-day standard / 72-hour expedited turnaround. Missing a deadline is a regulatory breach — yet context-gathering is largely manual.</a:t>
            </a:r>
          </a:p>
          <a:p>
            <a:pPr>
              <a:spcBef>
                <a:spcPts val="800"/>
              </a:spcBef>
            </a:pPr>
            <a:r>
              <a:rPr lang="en-US" sz="1800" b="1" dirty="0">
                <a:solidFill>
                  <a:srgbClr val="0F2B46"/>
                </a:solidFill>
                <a:latin typeface="Segoe UI"/>
                <a:cs typeface="Segoe UI"/>
              </a:rPr>
              <a:t>❌  Quality Risk</a:t>
            </a:r>
          </a:p>
          <a:p>
            <a:pPr>
              <a:spcBef>
                <a:spcPts val="200"/>
              </a:spcBef>
            </a:pPr>
            <a:r>
              <a:rPr lang="en-US" sz="1400" b="0" dirty="0">
                <a:solidFill>
                  <a:srgbClr val="6B7280"/>
                </a:solidFill>
                <a:latin typeface="Segoe UI"/>
                <a:cs typeface="Segoe UI"/>
              </a:rPr>
              <a:t>Missing a criterion = quality defect. Overlooking a duplicate = wasted clinical review. No single view ties member, clinical, financial, and PA data together.</a:t>
            </a:r>
          </a:p>
          <a:p>
            <a:pPr>
              <a:spcBef>
                <a:spcPts val="800"/>
              </a:spcBef>
            </a:pPr>
            <a:r>
              <a:rPr lang="en-US" sz="1800" b="1" dirty="0">
                <a:solidFill>
                  <a:srgbClr val="0F2B46"/>
                </a:solidFill>
                <a:latin typeface="Segoe UI"/>
                <a:cs typeface="Segoe UI"/>
              </a:rPr>
              <a:t>📊  Scale</a:t>
            </a:r>
          </a:p>
          <a:p>
            <a:pPr>
              <a:spcBef>
                <a:spcPts val="200"/>
              </a:spcBef>
            </a:pPr>
            <a:r>
              <a:rPr lang="en-US" sz="1400" b="0" dirty="0">
                <a:solidFill>
                  <a:srgbClr val="6B7280"/>
                </a:solidFill>
                <a:latin typeface="Segoe UI"/>
                <a:cs typeface="Segoe UI"/>
              </a:rPr>
              <a:t>Average health plan processes 35M+ prior authorizations per year. Each requires 15–45 minutes of analyst effort, totaling billions in administrative cost industry-wide.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1280160"/>
          </a:xfrm>
          <a:prstGeom prst="rect"/>
          <a:solidFill>
            <a:srgbClr val="0F2B46"/>
          </a:solidFill>
          <a:ln>
            <a:noFill/>
          </a:ln>
        </p:spPr>
      </p:sp>
      <p:sp>
        <p:nvSpPr>
          <p:cNvPr id="3" name="stripe"/>
          <p:cNvSpPr/>
          <p:nvPr/>
        </p:nvSpPr>
        <p:spPr>
          <a:xfrm>
            <a:off x="0" y="1280160"/>
            <a:ext cx="12192000" cy="54864"/>
          </a:xfrm>
          <a:prstGeom prst="rect"/>
          <a:solidFill>
            <a:srgbClr val="00A9C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 Semibold"/>
                <a:cs typeface="Segoe UI Semibold"/>
              </a:rPr>
              <a:t>SOLUTION &amp; APPROACH</a:t>
            </a:r>
          </a:p>
        </p:txBody>
      </p:sp>
      <p:sp>
        <p:nvSpPr>
          <p:cNvPr id="5" name="sub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000" b="0" dirty="0">
                <a:solidFill>
                  <a:srgbClr val="00A9CE"/>
                </a:solidFill>
                <a:latin typeface="Segoe UI"/>
                <a:cs typeface="Segoe UI"/>
              </a:rPr>
              <a:t>PA Insight Copilot — Evidence, Not Decisions</a:t>
            </a:r>
          </a:p>
        </p:txBody>
      </p:sp>
      <p:sp>
        <p:nvSpPr>
          <p:cNvPr id="6" name="left"/>
          <p:cNvSpPr txBox="1"/>
          <p:nvPr/>
        </p:nvSpPr>
        <p:spPr>
          <a:xfrm>
            <a:off x="731520" y="1554480"/>
            <a:ext cx="5029200" cy="48463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Bef>
                <a:spcPts val="4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Snowflake-Native Architecture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Medallion pipeline: Bronze → Silver → Gold → Serving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52 tables, 1.2M rows, 14 governed SERVING views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RBAC: app sees only non-PII serving layer</a:t>
            </a:r>
          </a:p>
          <a:p>
            <a:pPr>
              <a:spcBef>
                <a:spcPts val="6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AI-Powered Grounding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Cortex Analyst + Semantic View (12 tables, 12 VQRs)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Cortex Search over 626 regulatory chunks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Claude Sonnet 4.5 for answer synthesis</a:t>
            </a:r>
          </a:p>
          <a:p>
            <a:pPr>
              <a:spcBef>
                <a:spcPts val="6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Triple-Layer Safety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System prompt: non-decision rule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Input filter: decision-seeking regex refusal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Output guard: 14+ patterns block determinations</a:t>
            </a:r>
          </a:p>
        </p:txBody>
      </p:sp>
      <p:sp>
        <p:nvSpPr>
          <p:cNvPr id="10" name="box0"/>
          <p:cNvSpPr/>
          <p:nvPr/>
        </p:nvSpPr>
        <p:spPr>
          <a:xfrm>
            <a:off x="6217920" y="1737360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1" name="boxlbl0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Segoe UI"/>
                <a:cs typeface="Segoe UI"/>
              </a:rPr>
              <a:t>Streamlit in Snowflake</a:t>
            </a:r>
          </a:p>
        </p:txBody>
      </p:sp>
      <p:sp>
        <p:nvSpPr>
          <p:cNvPr id="12" name="boxdesc0"/>
          <p:cNvSpPr txBox="1"/>
          <p:nvPr/>
        </p:nvSpPr>
        <p:spPr>
          <a:xfrm>
            <a:off x="6400800" y="219456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Single-pane copilot UI for PA analysts</a:t>
            </a:r>
          </a:p>
        </p:txBody>
      </p:sp>
      <p:sp>
        <p:nvSpPr>
          <p:cNvPr id="13" name="box1"/>
          <p:cNvSpPr/>
          <p:nvPr/>
        </p:nvSpPr>
        <p:spPr>
          <a:xfrm>
            <a:off x="6217920" y="2880360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00A9CE"/>
          </a:solidFill>
          <a:ln>
            <a:noFill/>
          </a:ln>
        </p:spPr>
      </p:sp>
      <p:sp>
        <p:nvSpPr>
          <p:cNvPr id="14" name="boxlbl1"/>
          <p:cNvSpPr txBox="1"/>
          <p:nvPr/>
        </p:nvSpPr>
        <p:spPr>
          <a:xfrm>
            <a:off x="6400800" y="297180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Segoe UI"/>
                <a:cs typeface="Segoe UI"/>
              </a:rPr>
              <a:t>Cortex Analyst</a:t>
            </a:r>
          </a:p>
        </p:txBody>
      </p:sp>
      <p:sp>
        <p:nvSpPr>
          <p:cNvPr id="15" name="boxdesc1"/>
          <p:cNvSpPr txBox="1"/>
          <p:nvPr/>
        </p:nvSpPr>
        <p:spPr>
          <a:xfrm>
            <a:off x="6400800" y="333756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NL-to-SQL over semantic view with verified queries</a:t>
            </a:r>
          </a:p>
        </p:txBody>
      </p:sp>
      <p:sp>
        <p:nvSpPr>
          <p:cNvPr id="16" name="box2"/>
          <p:cNvSpPr/>
          <p:nvPr/>
        </p:nvSpPr>
        <p:spPr>
          <a:xfrm>
            <a:off x="6217920" y="4023360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7" name="boxlbl2"/>
          <p:cNvSpPr txBox="1"/>
          <p:nvPr/>
        </p:nvSpPr>
        <p:spPr>
          <a:xfrm>
            <a:off x="6400800" y="411480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Segoe UI"/>
                <a:cs typeface="Segoe UI"/>
              </a:rPr>
              <a:t>Cortex Search</a:t>
            </a:r>
          </a:p>
        </p:txBody>
      </p:sp>
      <p:sp>
        <p:nvSpPr>
          <p:cNvPr id="18" name="boxdesc2"/>
          <p:cNvSpPr txBox="1"/>
          <p:nvPr/>
        </p:nvSpPr>
        <p:spPr>
          <a:xfrm>
            <a:off x="6400800" y="448056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Regulatory retrieval: CMS, CFR, ERISA, Texas HB 3459</a:t>
            </a:r>
          </a:p>
        </p:txBody>
      </p:sp>
      <p:sp>
        <p:nvSpPr>
          <p:cNvPr id="19" name="box3"/>
          <p:cNvSpPr/>
          <p:nvPr/>
        </p:nvSpPr>
        <p:spPr>
          <a:xfrm>
            <a:off x="6217920" y="5166360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0" name="boxlbl3"/>
          <p:cNvSpPr txBox="1"/>
          <p:nvPr/>
        </p:nvSpPr>
        <p:spPr>
          <a:xfrm>
            <a:off x="6400800" y="525780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Segoe UI"/>
                <a:cs typeface="Segoe UI"/>
              </a:rPr>
              <a:t>Governed Data Layer</a:t>
            </a:r>
          </a:p>
        </p:txBody>
      </p:sp>
      <p:sp>
        <p:nvSpPr>
          <p:cNvPr id="21" name="boxdesc3"/>
          <p:cNvSpPr txBox="1"/>
          <p:nvPr/>
        </p:nvSpPr>
        <p:spPr>
          <a:xfrm>
            <a:off x="6400800" y="5623560"/>
            <a:ext cx="466344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Non-PII views • Frozen schema contract • RBAC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1280160"/>
          </a:xfrm>
          <a:prstGeom prst="rect"/>
          <a:solidFill>
            <a:srgbClr val="0F2B46"/>
          </a:solidFill>
          <a:ln>
            <a:noFill/>
          </a:ln>
        </p:spPr>
      </p:sp>
      <p:sp>
        <p:nvSpPr>
          <p:cNvPr id="3" name="stripe"/>
          <p:cNvSpPr/>
          <p:nvPr/>
        </p:nvSpPr>
        <p:spPr>
          <a:xfrm>
            <a:off x="0" y="1280160"/>
            <a:ext cx="12192000" cy="54864"/>
          </a:xfrm>
          <a:prstGeom prst="rect"/>
          <a:solidFill>
            <a:srgbClr val="00A9C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 Semibold"/>
                <a:cs typeface="Segoe UI Semibold"/>
              </a:rPr>
              <a:t>GAINS &amp; OUTPUT VALUE</a:t>
            </a:r>
          </a:p>
        </p:txBody>
      </p:sp>
      <p:sp>
        <p:nvSpPr>
          <p:cNvPr id="5" name="sub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000" b="0" dirty="0">
                <a:solidFill>
                  <a:srgbClr val="00A9CE"/>
                </a:solidFill>
                <a:latin typeface="Segoe UI"/>
                <a:cs typeface="Segoe UI"/>
              </a:rPr>
              <a:t>Measurable Impact Across the PA Lifecycle</a:t>
            </a:r>
          </a:p>
        </p:txBody>
      </p:sp>
      <p:sp>
        <p:nvSpPr>
          <p:cNvPr id="10" name="kpi0"/>
          <p:cNvSpPr/>
          <p:nvPr/>
        </p:nvSpPr>
        <p:spPr>
          <a:xfrm>
            <a:off x="457200" y="15544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1" name="kpival0"/>
          <p:cNvSpPr txBox="1"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/>
                <a:cs typeface="Segoe UI"/>
              </a:rPr>
              <a:t>60–70%</a:t>
            </a:r>
          </a:p>
        </p:txBody>
      </p:sp>
      <p:sp>
        <p:nvSpPr>
          <p:cNvPr id="12" name="kpilbl0"/>
          <p:cNvSpPr txBox="1"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Reduction in
Context-Gathering Time</a:t>
            </a:r>
          </a:p>
        </p:txBody>
      </p:sp>
      <p:sp>
        <p:nvSpPr>
          <p:cNvPr id="13" name="kpi1"/>
          <p:cNvSpPr/>
          <p:nvPr/>
        </p:nvSpPr>
        <p:spPr>
          <a:xfrm>
            <a:off x="3291840" y="15544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0A9CE"/>
          </a:solidFill>
          <a:ln>
            <a:noFill/>
          </a:ln>
        </p:spPr>
      </p:sp>
      <p:sp>
        <p:nvSpPr>
          <p:cNvPr id="14" name="kpival1"/>
          <p:cNvSpPr txBox="1"/>
          <p:nvPr/>
        </p:nvSpPr>
        <p:spPr>
          <a:xfrm>
            <a:off x="3291840" y="1645920"/>
            <a:ext cx="2560320" cy="6400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/>
                <a:cs typeface="Segoe UI"/>
              </a:rPr>
              <a:t>100%</a:t>
            </a:r>
          </a:p>
        </p:txBody>
      </p:sp>
      <p:sp>
        <p:nvSpPr>
          <p:cNvPr id="15" name="kpilbl1"/>
          <p:cNvSpPr txBox="1"/>
          <p:nvPr/>
        </p:nvSpPr>
        <p:spPr>
          <a:xfrm>
            <a:off x="3291840" y="2286000"/>
            <a:ext cx="2560320" cy="5486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Citation Coverage
on Every Answer</a:t>
            </a:r>
          </a:p>
        </p:txBody>
      </p:sp>
      <p:sp>
        <p:nvSpPr>
          <p:cNvPr id="16" name="kpi2"/>
          <p:cNvSpPr/>
          <p:nvPr/>
        </p:nvSpPr>
        <p:spPr>
          <a:xfrm>
            <a:off x="6126480" y="15544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17" name="kpival2"/>
          <p:cNvSpPr txBox="1"/>
          <p:nvPr/>
        </p:nvSpPr>
        <p:spPr>
          <a:xfrm>
            <a:off x="6126480" y="1645920"/>
            <a:ext cx="2560320" cy="6400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/>
                <a:cs typeface="Segoe UI"/>
              </a:rPr>
              <a:t>Zero</a:t>
            </a:r>
          </a:p>
        </p:txBody>
      </p:sp>
      <p:sp>
        <p:nvSpPr>
          <p:cNvPr id="18" name="kpilbl2"/>
          <p:cNvSpPr txBox="1"/>
          <p:nvPr/>
        </p:nvSpPr>
        <p:spPr>
          <a:xfrm>
            <a:off x="6126480" y="2286000"/>
            <a:ext cx="2560320" cy="5486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Decision Leakage
(Triple-Layer Guard)</a:t>
            </a:r>
          </a:p>
        </p:txBody>
      </p:sp>
      <p:sp>
        <p:nvSpPr>
          <p:cNvPr id="19" name="kpi3"/>
          <p:cNvSpPr/>
          <p:nvPr/>
        </p:nvSpPr>
        <p:spPr>
          <a:xfrm>
            <a:off x="8961120" y="15544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0" name="kpival3"/>
          <p:cNvSpPr txBox="1"/>
          <p:nvPr/>
        </p:nvSpPr>
        <p:spPr>
          <a:xfrm>
            <a:off x="8961120" y="1645920"/>
            <a:ext cx="2560320" cy="6400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/>
                <a:cs typeface="Segoe UI"/>
              </a:rPr>
              <a:t>28/28</a:t>
            </a:r>
          </a:p>
        </p:txBody>
      </p:sp>
      <p:sp>
        <p:nvSpPr>
          <p:cNvPr id="21" name="kpilbl3"/>
          <p:cNvSpPr txBox="1"/>
          <p:nvPr/>
        </p:nvSpPr>
        <p:spPr>
          <a:xfrm>
            <a:off x="8961120" y="2286000"/>
            <a:ext cx="2560320" cy="5486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100" b="0" dirty="0">
                <a:solidFill>
                  <a:srgbClr val="FFFFFF"/>
                </a:solidFill>
                <a:latin typeface="Segoe UI"/>
                <a:cs typeface="Segoe UI"/>
              </a:rPr>
              <a:t>Automated QA
Checks Passing</a:t>
            </a:r>
          </a:p>
        </p:txBody>
      </p:sp>
      <p:sp>
        <p:nvSpPr>
          <p:cNvPr id="30" name="vals"/>
          <p:cNvSpPr txBox="1"/>
          <p:nvPr/>
        </p:nvSpPr>
        <p:spPr>
          <a:xfrm>
            <a:off x="731520" y="3017520"/>
            <a:ext cx="10515600" cy="3657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Bef>
                <a:spcPts val="8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For PA Analysts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Single member view: eligibility + clinical + financial + PA criteria + SLA + timeline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Instant regulatory lookup with verifiable citations (page, section, source URL)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Contextual suggested questions scoped to the member’s open requests</a:t>
            </a:r>
          </a:p>
          <a:p>
            <a:pPr>
              <a:spcBef>
                <a:spcPts val="6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For Compliance &amp; Quality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Every answer is auditable: SQL query ID, row count, execution time, matched VQR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Non-decision enforcement prevents AI from crossing the determination boundary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Governed data layer: app cannot access PII or base tables by design</a:t>
            </a:r>
          </a:p>
          <a:p>
            <a:pPr>
              <a:spcBef>
                <a:spcPts val="6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For Operations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SLA breach visibility: real-time ON_TRACK / AT_RISK / BREACHED across all open cases</a:t>
            </a:r>
          </a:p>
          <a:p>
            <a:pPr>
              <a:spcBef>
                <a:spcPts val="1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Historical precedent: approval rates by service code + diagnosis + LOB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1280160"/>
          </a:xfrm>
          <a:prstGeom prst="rect"/>
          <a:solidFill>
            <a:srgbClr val="0F2B46"/>
          </a:solidFill>
          <a:ln>
            <a:noFill/>
          </a:ln>
        </p:spPr>
      </p:sp>
      <p:sp>
        <p:nvSpPr>
          <p:cNvPr id="3" name="stripe"/>
          <p:cNvSpPr/>
          <p:nvPr/>
        </p:nvSpPr>
        <p:spPr>
          <a:xfrm>
            <a:off x="0" y="1280160"/>
            <a:ext cx="12192000" cy="54864"/>
          </a:xfrm>
          <a:prstGeom prst="rect"/>
          <a:solidFill>
            <a:srgbClr val="00A9C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 Semibold"/>
                <a:cs typeface="Segoe UI Semibold"/>
              </a:rPr>
              <a:t>CITIUSTECH DOMAIN EXPERTISE</a:t>
            </a:r>
          </a:p>
        </p:txBody>
      </p:sp>
      <p:sp>
        <p:nvSpPr>
          <p:cNvPr id="5" name="sub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000" b="0" dirty="0">
                <a:solidFill>
                  <a:srgbClr val="00A9CE"/>
                </a:solidFill>
                <a:latin typeface="Segoe UI"/>
                <a:cs typeface="Segoe UI"/>
              </a:rPr>
              <a:t>Why We Are Uniquely Positioned to Solve This</a:t>
            </a:r>
          </a:p>
        </p:txBody>
      </p:sp>
      <p:sp>
        <p:nvSpPr>
          <p:cNvPr id="6" name="expertise"/>
          <p:cNvSpPr txBox="1"/>
          <p:nvPr/>
        </p:nvSpPr>
        <p:spPr>
          <a:xfrm>
            <a:off x="731520" y="1554480"/>
            <a:ext cx="5943600" cy="4572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Bef>
                <a:spcPts val="4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Healthcare Payer Operations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Deep domain knowledge in utilization management, claims adjudication, and prior authorization workflows across Medicare Advantage, Medicaid, Commercial, and Marketplace lines</a:t>
            </a:r>
          </a:p>
          <a:p>
            <a:pPr>
              <a:spcBef>
                <a:spcPts val="7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Clinical &amp; Regulatory Intelligence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Understanding of medical necessity criteria frameworks (InterQual, MCG), CMS regulatory timelines (CMS-0057-F), ERISA claim procedures, and state-specific PA reform (Texas HB 3459)</a:t>
            </a:r>
          </a:p>
          <a:p>
            <a:pPr>
              <a:spcBef>
                <a:spcPts val="7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Snowflake &amp; AI Engineering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Production experience with Cortex AI (Analyst, Search, Complete), medallion data architectures, semantic views, and governed data products on Snowflake</a:t>
            </a:r>
          </a:p>
          <a:p>
            <a:pPr>
              <a:spcBef>
                <a:spcPts val="700"/>
              </a:spcBef>
            </a:pPr>
            <a:r>
              <a:rPr lang="en-US" sz="1700" b="1" dirty="0">
                <a:solidFill>
                  <a:srgbClr val="0F2B46"/>
                </a:solidFill>
                <a:latin typeface="Segoe UI"/>
                <a:cs typeface="Segoe UI"/>
              </a:rPr>
              <a:t>Responsible AI in Healthcare</a:t>
            </a:r>
          </a:p>
          <a:p>
            <a:pPr>
              <a:spcBef>
                <a:spcPts val="200"/>
              </a:spcBef>
            </a:pPr>
            <a:r>
              <a:rPr lang="en-US" sz="1300" b="0" dirty="0">
                <a:solidFill>
                  <a:srgbClr val="1A1A2E"/>
                </a:solidFill>
                <a:latin typeface="Segoe UI"/>
                <a:cs typeface="Segoe UI"/>
              </a:rPr>
              <a:t>• Proven approach to non-decision AI: evidence-only copilots that augment clinical reviewers without crossing the determination boundary — meeting payer compliance requirements</a:t>
            </a:r>
          </a:p>
        </p:txBody>
      </p:sp>
      <p:sp>
        <p:nvSpPr>
          <p:cNvPr id="20" name="num0"/>
          <p:cNvSpPr/>
          <p:nvPr/>
        </p:nvSpPr>
        <p:spPr>
          <a:xfrm>
            <a:off x="7315200" y="17373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1" name="numval0"/>
          <p:cNvSpPr txBox="1"/>
          <p:nvPr/>
        </p:nvSpPr>
        <p:spPr>
          <a:xfrm>
            <a:off x="7315200" y="181051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1,171</a:t>
            </a:r>
          </a:p>
        </p:txBody>
      </p:sp>
      <p:sp>
        <p:nvSpPr>
          <p:cNvPr id="22" name="numlbl0"/>
          <p:cNvSpPr txBox="1"/>
          <p:nvPr/>
        </p:nvSpPr>
        <p:spPr>
          <a:xfrm>
            <a:off x="7315200" y="224028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Synthetic Members</a:t>
            </a:r>
          </a:p>
        </p:txBody>
      </p:sp>
      <p:sp>
        <p:nvSpPr>
          <p:cNvPr id="23" name="num1"/>
          <p:cNvSpPr/>
          <p:nvPr/>
        </p:nvSpPr>
        <p:spPr>
          <a:xfrm>
            <a:off x="9509760" y="17373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4" name="numval1"/>
          <p:cNvSpPr txBox="1"/>
          <p:nvPr/>
        </p:nvSpPr>
        <p:spPr>
          <a:xfrm>
            <a:off x="9509760" y="181051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6,099</a:t>
            </a:r>
          </a:p>
        </p:txBody>
      </p:sp>
      <p:sp>
        <p:nvSpPr>
          <p:cNvPr id="25" name="numlbl1"/>
          <p:cNvSpPr txBox="1"/>
          <p:nvPr/>
        </p:nvSpPr>
        <p:spPr>
          <a:xfrm>
            <a:off x="9509760" y="224028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PA Requests</a:t>
            </a:r>
          </a:p>
        </p:txBody>
      </p:sp>
      <p:sp>
        <p:nvSpPr>
          <p:cNvPr id="26" name="num2"/>
          <p:cNvSpPr/>
          <p:nvPr/>
        </p:nvSpPr>
        <p:spPr>
          <a:xfrm>
            <a:off x="7315200" y="28346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7" name="numval2"/>
          <p:cNvSpPr txBox="1"/>
          <p:nvPr/>
        </p:nvSpPr>
        <p:spPr>
          <a:xfrm>
            <a:off x="7315200" y="290779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32,501</a:t>
            </a:r>
          </a:p>
        </p:txBody>
      </p:sp>
      <p:sp>
        <p:nvSpPr>
          <p:cNvPr id="28" name="numlbl2"/>
          <p:cNvSpPr txBox="1"/>
          <p:nvPr/>
        </p:nvSpPr>
        <p:spPr>
          <a:xfrm>
            <a:off x="7315200" y="333756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Criteria Evaluations</a:t>
            </a:r>
          </a:p>
        </p:txBody>
      </p:sp>
      <p:sp>
        <p:nvSpPr>
          <p:cNvPr id="29" name="num3"/>
          <p:cNvSpPr/>
          <p:nvPr/>
        </p:nvSpPr>
        <p:spPr>
          <a:xfrm>
            <a:off x="9509760" y="28346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0" name="numval3"/>
          <p:cNvSpPr txBox="1"/>
          <p:nvPr/>
        </p:nvSpPr>
        <p:spPr>
          <a:xfrm>
            <a:off x="9509760" y="290779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626</a:t>
            </a:r>
          </a:p>
        </p:txBody>
      </p:sp>
      <p:sp>
        <p:nvSpPr>
          <p:cNvPr id="31" name="numlbl3"/>
          <p:cNvSpPr txBox="1"/>
          <p:nvPr/>
        </p:nvSpPr>
        <p:spPr>
          <a:xfrm>
            <a:off x="9509760" y="333756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Regulatory Chunks</a:t>
            </a:r>
          </a:p>
        </p:txBody>
      </p:sp>
      <p:sp>
        <p:nvSpPr>
          <p:cNvPr id="32" name="num4"/>
          <p:cNvSpPr/>
          <p:nvPr/>
        </p:nvSpPr>
        <p:spPr>
          <a:xfrm>
            <a:off x="7315200" y="39319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3" name="numval4"/>
          <p:cNvSpPr txBox="1"/>
          <p:nvPr/>
        </p:nvSpPr>
        <p:spPr>
          <a:xfrm>
            <a:off x="7315200" y="400507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63</a:t>
            </a:r>
          </a:p>
        </p:txBody>
      </p:sp>
      <p:sp>
        <p:nvSpPr>
          <p:cNvPr id="34" name="numlbl4"/>
          <p:cNvSpPr txBox="1"/>
          <p:nvPr/>
        </p:nvSpPr>
        <p:spPr>
          <a:xfrm>
            <a:off x="7315200" y="443484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Versioned Rules</a:t>
            </a:r>
          </a:p>
        </p:txBody>
      </p:sp>
      <p:sp>
        <p:nvSpPr>
          <p:cNvPr id="35" name="num5"/>
          <p:cNvSpPr/>
          <p:nvPr/>
        </p:nvSpPr>
        <p:spPr>
          <a:xfrm>
            <a:off x="9509760" y="39319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6" name="numval5"/>
          <p:cNvSpPr txBox="1"/>
          <p:nvPr/>
        </p:nvSpPr>
        <p:spPr>
          <a:xfrm>
            <a:off x="9509760" y="400507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37" name="numlbl5"/>
          <p:cNvSpPr txBox="1"/>
          <p:nvPr/>
        </p:nvSpPr>
        <p:spPr>
          <a:xfrm>
            <a:off x="9509760" y="443484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Governed Views</a:t>
            </a:r>
          </a:p>
        </p:txBody>
      </p:sp>
      <p:sp>
        <p:nvSpPr>
          <p:cNvPr id="38" name="num6"/>
          <p:cNvSpPr/>
          <p:nvPr/>
        </p:nvSpPr>
        <p:spPr>
          <a:xfrm>
            <a:off x="7315200" y="502920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9" name="numval6"/>
          <p:cNvSpPr txBox="1"/>
          <p:nvPr/>
        </p:nvSpPr>
        <p:spPr>
          <a:xfrm>
            <a:off x="7315200" y="510235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40" name="numlbl6"/>
          <p:cNvSpPr txBox="1"/>
          <p:nvPr/>
        </p:nvSpPr>
        <p:spPr>
          <a:xfrm>
            <a:off x="7315200" y="553212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Public-Domain Sources</a:t>
            </a:r>
          </a:p>
        </p:txBody>
      </p:sp>
      <p:sp>
        <p:nvSpPr>
          <p:cNvPr id="41" name="num7"/>
          <p:cNvSpPr/>
          <p:nvPr/>
        </p:nvSpPr>
        <p:spPr>
          <a:xfrm>
            <a:off x="9509760" y="502920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42" name="numval7"/>
          <p:cNvSpPr txBox="1"/>
          <p:nvPr/>
        </p:nvSpPr>
        <p:spPr>
          <a:xfrm>
            <a:off x="9509760" y="5102352"/>
            <a:ext cx="192024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200" b="1" dirty="0">
                <a:solidFill>
                  <a:srgbClr val="0F2B46"/>
                </a:solidFill>
                <a:latin typeface="Segoe UI"/>
                <a:cs typeface="Segoe UI"/>
              </a:rPr>
              <a:t>52</a:t>
            </a:r>
          </a:p>
        </p:txBody>
      </p:sp>
      <p:sp>
        <p:nvSpPr>
          <p:cNvPr id="43" name="numlbl7"/>
          <p:cNvSpPr txBox="1"/>
          <p:nvPr/>
        </p:nvSpPr>
        <p:spPr>
          <a:xfrm>
            <a:off x="9509760" y="5532120"/>
            <a:ext cx="1920240" cy="3200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000" b="0" dirty="0">
                <a:solidFill>
                  <a:srgbClr val="6B7280"/>
                </a:solidFill>
                <a:latin typeface="Segoe UI"/>
                <a:cs typeface="Segoe UI"/>
              </a:rPr>
              <a:t>Pipeline Tables</a:t>
            </a:r>
          </a:p>
        </p:txBody>
      </p:sp>
      <p:sp>
        <p:nvSpPr>
          <p:cNvPr id="50" name="footer"/>
          <p:cNvSpPr/>
          <p:nvPr/>
        </p:nvSpPr>
        <p:spPr>
          <a:xfrm>
            <a:off x="0" y="6309360"/>
            <a:ext cx="12192000" cy="548640"/>
          </a:xfrm>
          <a:prstGeom prst="rect"/>
          <a:solidFill>
            <a:srgbClr val="0F2B46"/>
          </a:solidFill>
          <a:ln>
            <a:noFill/>
          </a:ln>
        </p:spPr>
      </p:sp>
      <p:sp>
        <p:nvSpPr>
          <p:cNvPr id="51" name="footertxt"/>
          <p:cNvSpPr txBox="1"/>
          <p:nvPr/>
        </p:nvSpPr>
        <p:spPr>
          <a:xfrm>
            <a:off x="731520" y="6355080"/>
            <a:ext cx="10058400" cy="36576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100" b="0" dirty="0">
                <a:solidFill>
                  <a:srgbClr val="00A9CE"/>
                </a:solidFill>
                <a:latin typeface="Segoe UI"/>
                <a:cs typeface="Segoe UI"/>
              </a:rPr>
              <a:t>PA Insight Copilot  •  Built on Snowflake Cortex  •  CitiusTech x Snowflake Hackathon 2026</a:t>
            </a:r>
          </a:p>
        </p:txBody>
      </p:sp>
    </p:spTree>
  </p:cSld>
</p:sld>
</file>

<file path=ppt/theme/theme1.xml><?xml version="1.0" encoding="utf-8"?>
<a:theme xmlns:a="http://schemas.openxmlformats.org/drawingml/2006/main" name="PA Copilot">
  <a:themeElements>
    <a:clrScheme name="PA Copilot">
      <a:dk1>
        <a:srgbClr val="0F2B46"/>
      </a:dk1>
      <a:lt1>
        <a:srgbClr val="FFFFFF"/>
      </a:lt1>
      <a:dk2>
        <a:srgbClr val="1A1A2E"/>
      </a:dk2>
      <a:lt2>
        <a:srgbClr val="F0F4F8"/>
      </a:lt2>
      <a:accent1>
        <a:srgbClr val="00A9CE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EC4899"/>
      </a:accent6>
      <a:hlink>
        <a:srgbClr val="00A9CE"/>
      </a:hlink>
      <a:folHlink>
        <a:srgbClr val="8B5CF6"/>
      </a:folHlink>
    </a:clrScheme>
    <a:fontScheme name="PA Copilot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